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LLM は読めるが語れない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Meiryo"/>
              </a:defRPr>
            </a:pPr>
            <a:r>
              <a:t>期待値プロパティが判定スイッチである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オントロジー PoC 勉強会発表</a:t>
            </a:r>
            <a:br/>
            <a:r>
              <a:t>2026-04-12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Meiryo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問題提起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LLM にデータを見せると何が起きるか?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1. LLM に売上データを見せると何が起きるか?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eiryo"/>
              </a:defRPr>
            </a:pPr>
            <a:r>
              <a:t>Q: この四半期売上データを分析して。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| 四半期 | 売上       |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| Q1    | 5,148,206  |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| Q2    | 6,181,726  |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| Q3    | 5,486,749  |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| Q4    | 11,014,309 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eiryo"/>
              </a:defRPr>
            </a:pPr>
            <a:r>
              <a:t>LLM の回答: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Meiryo"/>
              </a:defRPr>
            </a:pPr>
            <a:r>
              <a:t>「Q4 は Q1-Q3 平均の 1.96 倍です。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Meiryo"/>
              </a:defRPr>
            </a:pPr>
            <a:r>
              <a:t>  Q4 に売上が集中しています。」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926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D2FF"/>
                </a:solidFill>
                <a:latin typeface="Meiryo"/>
              </a:defRPr>
            </a:pPr>
            <a:r>
              <a:t>で、この 1.96 倍って...</a:t>
            </a:r>
          </a:p>
          <a:p>
            <a:pPr>
              <a:spcBef>
                <a:spcPts val="600"/>
              </a:spcBef>
              <a:defRPr sz="2000" b="1">
                <a:solidFill>
                  <a:srgbClr val="FFD700"/>
                </a:solidFill>
                <a:latin typeface="Meiryo"/>
              </a:defRPr>
            </a:pPr>
            <a:r>
              <a:t>良いの？ 悪いの？ 想定通りなの？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→ LLM は数字を読めている。でも「想定通りか」には答えていない。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2. LLM は「読む」ことはできるが「判定する」ことはできない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LLM は観測値を正しく記述する。しかし「想定からどれだけずれているか」は、</a:t>
            </a:r>
            <a:br/>
            <a:r>
              <a:t>期待値を教えない限り語れない。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モード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やっていること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例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LLM単体で可能?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記述モード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データにある数字を読む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"Q4 は平均の 1.96 倍"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判定モード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想定と比較して評価する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"想定 30-50% を 2倍も超えている"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eiryo"/>
              </a:defRPr>
            </a:pPr>
            <a:r>
              <a:t>なぜ「判定モード」に入れないのか?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・「この会社では Q4 は 30-50% 増を想定している」は、その会社にしかない情報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・LLM の訓練データには載っていない</a:t>
            </a:r>
          </a:p>
          <a:p>
            <a:pPr>
              <a:spcBef>
                <a:spcPts val="600"/>
              </a:spcBef>
              <a:defRPr sz="1400" b="1">
                <a:solidFill>
                  <a:srgbClr val="00D2FF"/>
                </a:solidFill>
                <a:latin typeface="Meiryo"/>
              </a:defRPr>
            </a:pPr>
            <a:r>
              <a:t>・→ 教えてあげないと、比較のしようがない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3. 割引 +7% — これは良いの？ 悪いの？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事実: 割引キャンペーン中の注文数は +7% でした。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eiryo"/>
              </a:defRPr>
            </a:pPr>
            <a:r>
              <a:t>期待値なし（LLM 単体）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Meiryo"/>
              </a:defRPr>
            </a:pPr>
            <a:r>
              <a:t>「キャンペーン中は注文が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Meiryo"/>
              </a:defRPr>
            </a:pPr>
            <a:r>
              <a:t>  7% 増えています。supported です。」</a:t>
            </a:r>
          </a:p>
          <a:p>
            <a:pPr>
              <a:spcBef>
                <a:spcPts val="600"/>
              </a:spcBef>
              <a:defRPr sz="1400" b="1">
                <a:solidFill>
                  <a:srgbClr val="FF6B6B"/>
                </a:solidFill>
                <a:latin typeface="Meiryo"/>
              </a:defRPr>
            </a:pPr>
            <a:r>
              <a:t>→ "増えてるから OK" で終わり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期待値あり（15-30% 増を想定）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10312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Meiryo"/>
              </a:defRPr>
            </a:pPr>
            <a:r>
              <a:t>「+7% は想定の 15-30% を大きく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Meiryo"/>
              </a:defRPr>
            </a:pPr>
            <a:r>
              <a:t>  下回っています。キャンペーン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Meiryo"/>
              </a:defRPr>
            </a:pPr>
            <a:r>
              <a:t>  設計の見直しが必要です。」</a:t>
            </a:r>
          </a:p>
          <a:p>
            <a:pPr>
              <a:spcBef>
                <a:spcPts val="600"/>
              </a:spcBef>
              <a:defRPr sz="1400" b="1">
                <a:solidFill>
                  <a:srgbClr val="00E676"/>
                </a:solidFill>
                <a:latin typeface="Meiryo"/>
              </a:defRPr>
            </a:pPr>
            <a:r>
              <a:t>→ 判定 + 次のアクションが出る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eiryo"/>
              </a:defRPr>
            </a:pPr>
            <a:r>
              <a:t>同じ数字。違いは「期待値を知っているかどうか」だけ。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4. 「期待値」を渡すと LLM は判定マシンに変わる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期待値なし（記述モード）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期待値あり（判定モード）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出力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「+7% 増えています」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「想定 15-30% に対し +7%。期待以下」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supported（増えたからOK）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contradicted（想定の半分以下）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次のアクション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キャンペーン設計見直し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Meiryo"/>
              </a:defRPr>
            </a:pPr>
            <a:r>
              <a:t>期待値プロパティ ＝ LLM の「判定スイッチ」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  <a:latin typeface="Meiryo"/>
              </a:defRPr>
            </a:pPr>
            <a:r>
              <a:t>スイッチ OFF → LLM は数字を読むだけの「観測マシン」</a:t>
            </a:r>
          </a:p>
          <a:p>
            <a:pPr>
              <a:spcBef>
                <a:spcPts val="600"/>
              </a:spcBef>
              <a:defRPr sz="1800" b="1">
                <a:solidFill>
                  <a:srgbClr val="00E676"/>
                </a:solidFill>
                <a:latin typeface="Meiryo"/>
              </a:defRPr>
            </a:pPr>
            <a:r>
              <a:t>スイッチ ON  → LLM は想定と比較する「判定マシン」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Meiryo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オントロジー入門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データの意味づけの 3 層目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5. データの意味づけは 3 層で考える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0FB"/>
                </a:solidFill>
                <a:latin typeface="Meiryo"/>
              </a:defRPr>
            </a:pPr>
            <a:r>
              <a:t>オントロジー層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"なぜそうなるか" （因果ルール・期待値）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iryo"/>
              </a:defRPr>
            </a:pPr>
            <a:r>
              <a:t>「Q4 は季節商品の影響で売上 30-50% 増が想定される」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eiryo"/>
              </a:defRPr>
            </a:pPr>
            <a:r>
              <a:t>セマンティック層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"どう計算するか" （メトリクス定義）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iryo"/>
              </a:defRPr>
            </a:pPr>
            <a:r>
              <a:t>total_revenue = SUM(total_amount)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eiryo"/>
              </a:defRPr>
            </a:pPr>
            <a:r>
              <a:t>メタデータ層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"何があるか" （テーブル名・カラム名）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iryo"/>
              </a:defRPr>
            </a:pPr>
            <a:r>
              <a:t>fct_orders テーブルに total_amount カラムがある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  <a:latin typeface="Meiryo"/>
              </a:defRPr>
            </a:pPr>
            <a:r>
              <a:t>LLM にメタデータ＋セマンティックを渡せば SQL は書ける。でも「30-50% 増が想定」はオントロジー層にしかない。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6. セマンティックレイヤー = how、オントロジー = why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層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問い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例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セマンティック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どう計算するか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total_revenue = SUM(total_amount)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オントロジー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なぜそうなるか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季節商品がQ4に集中 → 売上 30-50% 増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Meiryo"/>
              </a:defRPr>
            </a:pPr>
            <a:r>
              <a:t>・dbt Semantic Layer はセマンティック層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Meiryo"/>
              </a:defRPr>
            </a:pPr>
            <a:r>
              <a:t>・本 PoC が扱うのはその上のオントロジー層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Meiryo"/>
              </a:defRPr>
            </a:pPr>
            <a:r>
              <a:t>・多くの組織はメタデータ＋セマンティックまでは整備しているが、</a:t>
            </a:r>
          </a:p>
          <a:p>
            <a:pPr>
              <a:spcBef>
                <a:spcPts val="600"/>
              </a:spcBef>
              <a:defRPr sz="1600" b="1">
                <a:solidFill>
                  <a:srgbClr val="FFD700"/>
                </a:solidFill>
                <a:latin typeface="Meiryo"/>
              </a:defRPr>
            </a:pPr>
            <a:r>
              <a:t>  オントロジー層は未整備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7. 因果ルールは 7 つのプロパティで書ける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nlo"/>
              </a:defRPr>
            </a:pPr>
            <a:r>
              <a:t>:DiscountOrderRule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← ルール名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nlo"/>
              </a:defRPr>
            </a:pPr>
            <a:r>
              <a:t>    :cause :DiscountCampaign 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98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← 原因: 割引キャンペーン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8249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nlo"/>
              </a:defRPr>
            </a:pPr>
            <a:r>
              <a:t>    :effect :OrderVolume 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8249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← 影響先: 注文数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6654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nlo"/>
              </a:defRPr>
            </a:pPr>
            <a:r>
              <a:t>    :direction "increase" 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6654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← 方向: 増える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505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  <a:latin typeface="Menlo"/>
              </a:defRPr>
            </a:pPr>
            <a:r>
              <a:t>    :expectedMagnitude "15-30%" 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45059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Meiryo"/>
              </a:defRPr>
            </a:pPr>
            <a:r>
              <a:t>← ★ 期待値: 15-30% 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nlo"/>
              </a:defRPr>
            </a:pPr>
            <a:r>
              <a:t>    :condition "discount &gt; 10%" 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← 条件: 割引率10%以上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18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nlo"/>
              </a:defRPr>
            </a:pPr>
            <a:r>
              <a:t>    :comparedTo :NonCampaignPeriod 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186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← 比較対象: 非キャンペーン期間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027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nlo"/>
              </a:defRPr>
            </a:pPr>
            <a:r>
              <a:t>    :description "割引..."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027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← 説明文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eiryo"/>
              </a:defRPr>
            </a:pPr>
            <a:r>
              <a:t>⚠ この 7 プロパティは本 PoC で独自に設計。Turtle の記法は W3C 標準だが語彙は独自。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8. 期待値プロパティが LLM の「判定スイッチ」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プロパティ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LLM に教えること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LLM単体で代替可能?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cause（原因）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「何が原因か」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✅ 一般常識で推測可能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effect（影響先）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「何に影響するか」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✅ 一般常識で推測可能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direction（方向）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「増えるか減るか」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✅ 一般常識で推測可能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expectedMagnitude（期待値）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「どれくらい?」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❌ 組織固有 → 代替不可能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condition（条件）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「いつ適用するか」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⚠ 部分的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comparedTo（比較対象）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「何と比べるか」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⚠ 部分的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description（説明）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補足説明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✅ 効果小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Meiryo"/>
              </a:defRPr>
            </a:pPr>
            <a:r>
              <a:t>上 3 つは frontier LLM が自力でカバー。期待値だけが「人間が書かないと LLM にできないこと」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Meiryo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実験と結果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184 実験で検証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9. 実験設計 — 期待値なし vs あり × 8 つの仮説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0D2FF"/>
                </a:solidFill>
                <a:latin typeface="Meiryo"/>
              </a:defRPr>
            </a:pPr>
            <a:r>
              <a:t>シンプルな設計: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Meiryo"/>
              </a:defRPr>
            </a:pPr>
            <a:r>
              <a:t>・同じデータ、同じ仮説を LLM に 2 条件で分析させる</a:t>
            </a:r>
          </a:p>
          <a:p>
            <a:pPr>
              <a:spcBef>
                <a:spcPts val="600"/>
              </a:spcBef>
              <a:defRPr sz="1500" b="0">
                <a:solidFill>
                  <a:srgbClr val="FFD700"/>
                </a:solidFill>
                <a:latin typeface="Meiryo"/>
              </a:defRPr>
            </a:pPr>
            <a:r>
              <a:t>  期待値なし: データと SQL 結果だけを渡す</a:t>
            </a:r>
          </a:p>
          <a:p>
            <a:pPr>
              <a:spcBef>
                <a:spcPts val="600"/>
              </a:spcBef>
              <a:defRPr sz="1500" b="0">
                <a:solidFill>
                  <a:srgbClr val="00E676"/>
                </a:solidFill>
                <a:latin typeface="Meiryo"/>
              </a:defRPr>
            </a:pPr>
            <a:r>
              <a:t>  期待値あり: オントロジーの期待値プロパティを追加して渡す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  <a:latin typeface="Meiryo"/>
              </a:defRPr>
            </a:pPr>
            <a:r>
              <a:t>・8 つの仮説 × 2 条件 × 各 5 回 = 80 実験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Meiryo"/>
              </a:defRPr>
            </a:pPr>
            <a:r>
              <a:t>・採点: 「LLM が期待値と比較する言語を使ったか」を 0/1 で判定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Meiryo"/>
              </a:defRPr>
            </a:pPr>
            <a:r>
              <a:t>・盲検二重採点: 採点者はどちらの条件の出力か知らない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0D2FF"/>
                </a:solidFill>
                <a:latin typeface="Meiryo"/>
              </a:defRPr>
            </a:pPr>
            <a:r>
              <a:t>仮説の選び方: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  <a:latin typeface="Meiryo"/>
              </a:defRPr>
            </a:pPr>
            <a:r>
              <a:t>・前半 4 つ: 教科書的な EC 仮説（Q4 売上、割引効果、VIP 単価 etc.）</a:t>
            </a:r>
          </a:p>
          <a:p>
            <a:pPr>
              <a:spcBef>
                <a:spcPts val="600"/>
              </a:spcBef>
              <a:defRPr sz="1500" b="0">
                <a:solidFill>
                  <a:srgbClr val="FFD700"/>
                </a:solidFill>
                <a:latin typeface="Meiryo"/>
              </a:defRPr>
            </a:pPr>
            <a:r>
              <a:t>・後半 4 つ: LLM の常識では解けない仮説（組織固有の目標値、常識と逆方向のデータ）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10. 結果 — 「読めるが語れない」が一貫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9144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期待値なし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期待値あり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期待値比較スコア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p 値（片側 Wilcoxon）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p &lt; 0.00002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効果量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eiryo"/>
              </a:defRPr>
            </a:pPr>
            <a:r>
              <a:t>→ 期待値プロパティの有無だけで認知モードが切り替わる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ただし: LLM はデータを読み間違えているわけではない。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方向判定（「増えた/減った」）は期待値なしでも正解率 90% 以上。</a:t>
            </a:r>
          </a:p>
          <a:p>
            <a:pPr>
              <a:spcBef>
                <a:spcPts val="600"/>
              </a:spcBef>
              <a:defRPr sz="1400" b="1">
                <a:solidFill>
                  <a:srgbClr val="FFD700"/>
                </a:solidFill>
                <a:latin typeface="Meiryo"/>
              </a:defRPr>
            </a:pPr>
            <a:r>
              <a:t>読めるが、"想定と比べてどうか" を語れないだけ。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11. 東京 Q4 目標 — LLM 自身が「判定不能」と言った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"/>
              </a:defRPr>
            </a:pPr>
            <a:r>
              <a:t>仮説: 「東京の Q4 売上は社内目標を達成したか?」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eiryo"/>
              </a:defRPr>
            </a:pPr>
            <a:r>
              <a:t>期待値なし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「Q4 東京の売上は 270 万です。</a:t>
            </a:r>
            <a:br/>
            <a:r>
              <a:t>しかし社内目標を知らないため、</a:t>
            </a:r>
            <a:br/>
            <a:r>
              <a:t>達成したかどうかは</a:t>
            </a:r>
            <a:br/>
            <a:r>
              <a:t>判定できません。」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eiryo"/>
              </a:defRPr>
            </a:pPr>
            <a:r>
              <a:t>→ 判定不能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期待値あり（目標 300-400 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"/>
              </a:defRPr>
            </a:pPr>
            <a:r>
              <a:t>「Q4 東京の売上は 270 万で、</a:t>
            </a:r>
            <a:br/>
            <a:r>
              <a:t>目標 300-400 万を</a:t>
            </a:r>
            <a:br/>
            <a:r>
              <a:t>下回っています。</a:t>
            </a:r>
            <a:br/>
            <a:r>
              <a:t>未達です。」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291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eiryo"/>
              </a:defRPr>
            </a:pPr>
            <a:r>
              <a:t>→ 否定（未達）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00D2FF"/>
                </a:solidFill>
                <a:latin typeface="Meiryo"/>
              </a:defRPr>
            </a:pPr>
            <a:r>
              <a:t>→ LLM 自身が「目標を知らなければ判定できない」と認識している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→ 期待値は新しい能力を与えるのではなく、既にある能力に"比較対象"を与える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12. VIP 注文回数 — 常識に騙されないが、判定モードには入らない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"/>
              </a:defRPr>
            </a:pPr>
            <a:r>
              <a:t>仮説: 「VIP 顧客は新規顧客より 1 人あたりの注文数が多い」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4114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事実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LLM の常識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「VIP はたくさん買うはず」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データの真実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VIP 11.3 回 ≈ 新規 11.5 回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46320" y="12801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eiryo"/>
              </a:defRPr>
            </a:pPr>
            <a:r>
              <a:t>期待値なし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「VIP は新規とほぼ同じ注文数です。</a:t>
            </a:r>
            <a:br/>
            <a:r>
              <a:t>仮説は支持されません。」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4688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Meiryo"/>
              </a:defRPr>
            </a:pPr>
            <a:r>
              <a:t>期待値あり（+30-50% を想定）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7432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iryo"/>
              </a:defRPr>
            </a:pPr>
            <a:r>
              <a:t>「想定は +30-50% ですが、実測はほぼ同等。</a:t>
            </a:r>
            <a:br/>
            <a:r>
              <a:t>想定から約 40pp 乖離しています。」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00D2FF"/>
                </a:solidFill>
                <a:latin typeface="Meiryo"/>
              </a:defRPr>
            </a:pPr>
            <a:r>
              <a:t>→ 期待値なしでも常識に騙されずデータを正しく読んでいる（5回中5回正答）</a:t>
            </a:r>
          </a:p>
          <a:p>
            <a:pPr>
              <a:spcBef>
                <a:spcPts val="600"/>
              </a:spcBef>
              <a:defRPr sz="1400" b="1">
                <a:solidFill>
                  <a:srgbClr val="FFD700"/>
                </a:solidFill>
                <a:latin typeface="Meiryo"/>
              </a:defRPr>
            </a:pPr>
            <a:r>
              <a:t>→ でも「想定から 40pp 乖離」という定量的判定は、期待値を渡したときだけ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Meiryo"/>
              </a:defRPr>
            </a:pPr>
            <a:r>
              <a:t>→ LLM が弱いのではない。比較対象（期待値）がないだけ。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13. 184 実験の信頼性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段階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実験数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仮説タイプ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p 値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効果量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Cohen's κ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探索的実験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104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7仮説 × 6段階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確認実験(第1弾)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教科書的(4仮説)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0.0015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確認実験(第2弾)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常識で解けない(4仮説)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&lt; 0.00002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Meiryo"/>
              </a:defRPr>
            </a:pPr>
            <a:r>
              <a:t>・第1弾 → 第2弾で効果量がほぼ 2 倍に（0.45 → 0.88）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・第1弾で「期待値なしでも解けるケース」が見つかったが、仮説設計の問題だった（第2弾で解消）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・方法論: 事前登録（実験前にルールを git にコミット）、盲検採点、二重採点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00D2FF"/>
                </a:solidFill>
                <a:latin typeface="Meiryo"/>
              </a:defRPr>
            </a:pPr>
            <a:r>
              <a:t>→ 最も厳しい条件でも「期待値プロパティの効果」は再現された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Meiryo"/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ライブデモ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期待値なし vs あり を実際に見る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14. 期待値なし vs あり を実際に見てみよう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eiryo"/>
              </a:defRPr>
            </a:pPr>
            <a:r>
              <a:t>ターミナルで実行: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76"/>
                </a:solidFill>
                <a:latin typeface="Menlo"/>
              </a:defRPr>
            </a:pPr>
            <a:r>
              <a:t>uv run python -m ontoprobe --llm-demo H7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D700"/>
                </a:solidFill>
                <a:latin typeface="Meiryo"/>
              </a:defRPr>
            </a:pPr>
            <a:r>
              <a:t>期待される出力: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FFD700"/>
                </a:solidFill>
                <a:latin typeface="Meiryo"/>
              </a:defRPr>
            </a:pPr>
            <a:r>
              <a:t>期待値なし: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  「VIP 11.3 回 ≈ New 11.5 回。差はわずか1%...判定不能」</a:t>
            </a:r>
          </a:p>
          <a:p>
            <a:pPr>
              <a:spcBef>
                <a:spcPts val="600"/>
              </a:spcBef>
              <a:defRPr sz="1400" b="0">
                <a:solidFill>
                  <a:srgbClr val="00E676"/>
                </a:solidFill>
                <a:latin typeface="Meiryo"/>
              </a:defRPr>
            </a:pPr>
            <a:r>
              <a:t>期待値あり: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Meiryo"/>
              </a:defRPr>
            </a:pPr>
            <a:r>
              <a:t>  「想定では 30-50% の優位性が期待されるが、実測はほぼ同等。想定と大きく乖離...否定」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00D2FF"/>
                </a:solidFill>
                <a:latin typeface="Meiryo"/>
              </a:defRPr>
            </a:pPr>
            <a:r>
              <a:t>注目ポイント: 出力の語彙が変わる瞬間。「差はわずか」→「想定と大きく乖離」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eiryo"/>
              </a:defRPr>
            </a:pPr>
            <a:r>
              <a:t>⚠ ネットワーク必須。所要 20-30 秒。失敗時はスクショで代替。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15. Turtle → LLM → 判定 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40FB"/>
                </a:solidFill>
                <a:latin typeface="Meiryo"/>
              </a:defRPr>
            </a:pPr>
            <a:r>
              <a:t>Turtle ファイル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eiryo"/>
              </a:defRPr>
            </a:pPr>
            <a:r>
              <a:t>:expectedMagnitude</a:t>
            </a:r>
            <a:br/>
            <a:r>
              <a:t>"30-50%"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eiryo"/>
              </a:defRPr>
            </a:pPr>
            <a:r>
              <a:t>LLM プロンプト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eiryo"/>
              </a:defRPr>
            </a:pPr>
            <a:r>
              <a:t>"想定 30-50%"</a:t>
            </a:r>
            <a:br/>
            <a:r>
              <a:t>+ query 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Meiryo"/>
              </a:defRPr>
            </a:pPr>
            <a:r>
              <a:t>LLM 出力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eiryo"/>
              </a:defRPr>
            </a:pPr>
            <a:r>
              <a:t>"想定を 2 倍</a:t>
            </a:r>
            <a:br/>
            <a:r>
              <a:t>超えている"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CCCCCC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CCCCCC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D700"/>
                </a:solidFill>
                <a:latin typeface="Meiryo"/>
              </a:defRPr>
            </a:pPr>
            <a:r>
              <a:t>ポイント: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Meiryo"/>
              </a:defRPr>
            </a:pPr>
            <a:r>
              <a:t>Turtle の 1 行（expectedMagnitude）が LLM の判定モードを ON にする。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それ以外のプロパティ（クラス階層、因果方向）は frontier LLM が自力でカバーする。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Meiryo"/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実務への示唆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明日から何をすべきか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16. 期待値の書き方 5 原則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原則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❌ 悪い例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✅ 良い例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1. 数値範囲で書く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positive correlation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15-30%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曖昧だとLLMも判定不能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2. 条件はSQLで書く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冬に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order_quarter = 4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LLMがSQLに変換可能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3. 比較対象を明示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（省略）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:NewCustomer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ベースライン明確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4. 構造化が先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長文説明だけ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構造 + 1行説明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LLMは構造を優先使用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5. 原因はクラスで指す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"vip" (文字列)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:VIPCustomer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テーブル横断可能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最大の難所: 「組織の期待値を数値化すること」自体が難しい。</a:t>
            </a:r>
            <a:br/>
            <a:r>
              <a:t>「なんとなく相関がある」→ 数値範囲にするには、過去データ分析や専門家ヒアリングが必要。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17. どのドメインで期待値投資すべきか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LLM が詳しいドメイン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LLM が弱いドメイン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例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EC、Web マーケ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半導体、医療、保険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期待値なしの実力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そこそこ当たる（常識あり）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当てずっぽう or 自信を持って誤答</a:t>
                      </a:r>
                    </a:p>
                  </a:txBody>
                  <a:tcPr>
                    <a:solidFill>
                      <a:srgbClr val="2535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D700"/>
                          </a:solidFill>
                          <a:latin typeface="Meiryo"/>
                        </a:defRPr>
                      </a:pPr>
                      <a:r>
                        <a:t>期待値の価値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Meiryo"/>
                        </a:defRPr>
                      </a:pPr>
                      <a:r>
                        <a:t>あると便利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D700"/>
                          </a:solidFill>
                          <a:latin typeface="Meiryo"/>
                        </a:defRPr>
                      </a:pPr>
                      <a:r>
                        <a:t>ないと危険</a:t>
                      </a:r>
                    </a:p>
                  </a:txBody>
                  <a:tcPr>
                    <a:solidFill>
                      <a:srgbClr val="1E2D4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Meiryo"/>
              </a:defRPr>
            </a:pPr>
            <a:r>
              <a:t>→ 自社のドメインが「LLM が詳しくない」領域なら、期待値プロパティの投資は必須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⚠ 注: EC 以外のドメインは本 PoC では実測していません（Masking 実験で用語置換のみ）。上記は推定です。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eiryo"/>
              </a:defRPr>
            </a:pPr>
            <a:r>
              <a:t>18. 限界と次のステップ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6B6B"/>
                </a:solidFill>
                <a:latin typeface="Meiryo"/>
              </a:defRPr>
            </a:pPr>
            <a:r>
              <a:t>本 PoC の限界（正直に）: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・Claude モデルのみで検証</a:t>
            </a:r>
          </a:p>
          <a:p>
            <a:pPr>
              <a:spcBef>
                <a:spcPts val="6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定性的主張は model に依存しないが</a:t>
            </a:r>
          </a:p>
          <a:p>
            <a:pPr>
              <a:spcBef>
                <a:spcPts val="6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定量値は Claude 固有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・合成データ</a:t>
            </a:r>
          </a:p>
          <a:p>
            <a:pPr>
              <a:spcBef>
                <a:spcPts val="6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実組織の KPI 目標での検証は未実施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・EC ドメインのみ</a:t>
            </a:r>
          </a:p>
          <a:p>
            <a:pPr>
              <a:spcBef>
                <a:spcPts val="6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真のドメイン転移は未検証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・8 仮説の代表性は未検証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9144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0E676"/>
                </a:solidFill>
                <a:latin typeface="Meiryo"/>
              </a:defRPr>
            </a:pPr>
            <a:r>
              <a:t>次のステップ: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Meiryo"/>
              </a:defRPr>
            </a:pPr>
            <a:r>
              <a:t>・他モデルでの再現</a:t>
            </a:r>
          </a:p>
          <a:p>
            <a:pPr>
              <a:spcBef>
                <a:spcPts val="6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GPT-5 / Gemini 3 / Sonnet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Meiryo"/>
              </a:defRPr>
            </a:pPr>
            <a:r>
              <a:t>・実データ・実 KPI 目標での検証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Meiryo"/>
              </a:defRPr>
            </a:pPr>
            <a:r>
              <a:t>・Snowflake / Cortex への移植</a:t>
            </a:r>
          </a:p>
          <a:p>
            <a:pPr>
              <a:spcBef>
                <a:spcPts val="6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production 適用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Meiryo"/>
              </a:defRPr>
            </a:pPr>
            <a: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まとめ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LLM は読めるが語れない。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Meiryo"/>
              </a:defRPr>
            </a:pPr>
            <a:r>
              <a:t>期待値プロパティは、LLM を「観測マシン」から</a:t>
            </a:r>
            <a:br/>
            <a:r>
              <a:t>「判定マシン」に変えるスイッチである。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eiryo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Meiryo"/>
              </a:defRPr>
            </a:pPr>
            <a:r>
              <a:t>・LLM は数字を正しく読む（記述モード）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Meiryo"/>
              </a:defRPr>
            </a:pPr>
            <a:r>
              <a:t>・でも「想定からどれだけずれているか」は自発的に語らない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Meiryo"/>
              </a:defRPr>
            </a:pPr>
            <a:r>
              <a:t>・期待値を 1 行書くだけで、LLM の認知モードが切り替わる</a:t>
            </a:r>
          </a:p>
          <a:p>
            <a:pPr>
              <a:spcBef>
                <a:spcPts val="600"/>
              </a:spcBef>
              <a:defRPr sz="1600" b="0">
                <a:solidFill>
                  <a:srgbClr val="FFD700"/>
                </a:solidFill>
                <a:latin typeface="Meiryo"/>
              </a:defRPr>
            </a:pPr>
            <a:r>
              <a:t>・この「想定」は組織にしかない情報。モデルが進化しても外部供給は永久に必要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eiryo"/>
              </a:defRPr>
            </a:pPr>
            <a:r>
              <a:t>Q: モデルが賢くなれば不要になるのでは?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371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→ 期待値は private info。モデル進化では解決しない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eiryo"/>
              </a:defRPr>
            </a:pPr>
            <a:r>
              <a:t>Q: Opus だけの結果では?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→ Haiku でも再現。他モデルは future work（参考資料 A7）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eiryo"/>
              </a:defRPr>
            </a:pPr>
            <a:r>
              <a:t>Q: EC 以外のドメインでは?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743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→ Masking で一部確認。真のドメイン転移は未実施（参考資料 A8）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eiryo"/>
              </a:defRPr>
            </a:pPr>
            <a:r>
              <a:t>Q: 期待値は誰が書くの?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429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→ ドメイン専門家。最大の難所は曖昧な知識の数値化（参考資料 A10）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eiryo"/>
              </a:defRPr>
            </a:pPr>
            <a:r>
              <a:t>Q: ルール数が増えたら?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114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→ 数百になると SHACL 等の整合性検証が必要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